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mbria Bold" charset="1" panose="02040803050406030204"/>
      <p:regular r:id="rId18"/>
    </p:embeddedFont>
    <p:embeddedFont>
      <p:font typeface="Calibri (MS)" charset="1" panose="020F0502020204030204"/>
      <p:regular r:id="rId19"/>
    </p:embeddedFont>
    <p:embeddedFont>
      <p:font typeface="Calibri (MS) Italics" charset="1" panose="020F05020202040A0204"/>
      <p:regular r:id="rId21"/>
    </p:embeddedFont>
    <p:embeddedFont>
      <p:font typeface="Calibri (MS) Bold" charset="1" panose="020F07020304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project: a machine learning system that predicts diabetes risk from routine clinical measurements.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Summarise the project in under a minute: the problem, the models, the evaluation approach and the deployment.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Four challenges: silent progression of the disease, poor data quality, the asymmetric cost of errors, and keeping a deployed model reliable.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Walk left to right through the six stages. Stress the single pipeline shared by training and serving.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Lowering the threshold from 0.50 to 0.30 lifts recall from 0.675 to 0.90 and cuts false negatives from 13 to 4.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Replace each frame with a real screenshot of your running project: the input form, the prediction result and the FastAPI /docs page. Right-click a frame, delete it, then insert your picture.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Each advantage is backed by a measured result from the project.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These are intended deployment scenarios. In every case the model output only triggers a confirmatory lab test, never a diagnosis.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Recap the three takeaways, mention future scope and invite questions.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8.png" Type="http://schemas.openxmlformats.org/officeDocument/2006/relationships/image"/><Relationship Id="rId6" Target="../media/image14.png" Type="http://schemas.openxmlformats.org/officeDocument/2006/relationships/image"/><Relationship Id="rId7" Target="../media/image7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7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2194560"/>
            <a:ext cx="10424160" cy="3154680"/>
            <a:chOff x="0" y="0"/>
            <a:chExt cx="13898880" cy="4206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988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85" r="0" b="-1438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898880" cy="42157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Diabetes Risk Prediction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5703570"/>
            <a:ext cx="1014984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9FC5CE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learning for early clinical screening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FB49C"/>
                </a:solidFill>
                <a:latin typeface="Calibri (MS)"/>
                <a:ea typeface="Calibri (MS)"/>
                <a:cs typeface="Calibri (MS)"/>
                <a:sym typeface="Calibri (MS)"/>
              </a:rPr>
              <a:t>Course 25SC2107E · Machine Learning · Topic 31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FB49C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FB49C"/>
                </a:solidFill>
                <a:latin typeface="Calibri (MS)"/>
                <a:ea typeface="Calibri (MS)"/>
                <a:cs typeface="Calibri (MS)"/>
                <a:sym typeface="Calibri (MS)"/>
              </a:rPr>
              <a:t>K.Devika -2520030329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FB49C"/>
                </a:solidFill>
                <a:latin typeface="Calibri (MS)"/>
                <a:ea typeface="Calibri (MS)"/>
                <a:cs typeface="Calibri (MS)"/>
                <a:sym typeface="Calibri (MS)"/>
              </a:rPr>
              <a:t>M.Tanmayee-2520030339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207240" y="1783080"/>
            <a:ext cx="5486400" cy="5486400"/>
            <a:chOff x="0" y="0"/>
            <a:chExt cx="7315200" cy="731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157A8A">
                <a:alpha val="12157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0" y="2606040"/>
            <a:ext cx="3840480" cy="3840480"/>
            <a:chOff x="0" y="0"/>
            <a:chExt cx="5120640" cy="5120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06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120640">
                  <a:moveTo>
                    <a:pt x="0" y="2560320"/>
                  </a:moveTo>
                  <a:cubicBezTo>
                    <a:pt x="0" y="1146302"/>
                    <a:pt x="1146302" y="0"/>
                    <a:pt x="2560320" y="0"/>
                  </a:cubicBezTo>
                  <a:cubicBezTo>
                    <a:pt x="3974338" y="0"/>
                    <a:pt x="5120640" y="1146302"/>
                    <a:pt x="5120640" y="2560320"/>
                  </a:cubicBezTo>
                  <a:cubicBezTo>
                    <a:pt x="5120640" y="3974338"/>
                    <a:pt x="3974338" y="5120640"/>
                    <a:pt x="2560320" y="5120640"/>
                  </a:cubicBezTo>
                  <a:cubicBezTo>
                    <a:pt x="1146302" y="5120640"/>
                    <a:pt x="0" y="3974338"/>
                    <a:pt x="0" y="256032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990320" y="3566160"/>
            <a:ext cx="1920240" cy="1920240"/>
            <a:chOff x="0" y="0"/>
            <a:chExt cx="2560320" cy="256032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56032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560320"/>
                  </a:lnTo>
                  <a:lnTo>
                    <a:pt x="0" y="2560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21440" y="7496175"/>
            <a:ext cx="67208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9FC5CE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  ·  SVM  ·  Random Forest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7280" y="9014460"/>
            <a:ext cx="109728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9FC5CE"/>
                </a:solidFill>
                <a:latin typeface="Calibri (MS)"/>
                <a:ea typeface="Calibri (MS)"/>
                <a:cs typeface="Calibri (MS)"/>
                <a:sym typeface="Calibri (MS)"/>
              </a:rPr>
              <a:t>github.com/tanmayeemuppaneni/diabetes-risk-prediction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FB49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2863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A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Risk Prediction  ·  End-to-End ML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3441680" cy="1234440"/>
            <a:chOff x="0" y="0"/>
            <a:chExt cx="179222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2475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Abstract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10287000" cy="6995160"/>
            <a:chOff x="0" y="0"/>
            <a:chExt cx="13716000" cy="932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9326880"/>
            </a:xfrm>
            <a:custGeom>
              <a:avLst/>
              <a:gdLst/>
              <a:ahLst/>
              <a:cxnLst/>
              <a:rect r="r" b="b" t="t" l="l"/>
              <a:pathLst>
                <a:path h="9326880" w="137160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3496544" y="0"/>
                  </a:lnTo>
                  <a:cubicBezTo>
                    <a:pt x="13617702" y="0"/>
                    <a:pt x="13716000" y="98298"/>
                    <a:pt x="13716000" y="219456"/>
                  </a:cubicBezTo>
                  <a:lnTo>
                    <a:pt x="13716000" y="9107424"/>
                  </a:lnTo>
                  <a:cubicBezTo>
                    <a:pt x="13716000" y="9228582"/>
                    <a:pt x="13617702" y="9326880"/>
                    <a:pt x="13496544" y="9326880"/>
                  </a:cubicBezTo>
                  <a:lnTo>
                    <a:pt x="219456" y="9326880"/>
                  </a:lnTo>
                  <a:cubicBezTo>
                    <a:pt x="98298" y="9326880"/>
                    <a:pt x="0" y="9228582"/>
                    <a:pt x="0" y="910742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03020" y="2548890"/>
            <a:ext cx="9326880" cy="636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Diabetes often goes undetected until serious complications appear. This project builds an end-to-end machine learning system that predicts diabetes risk from routine clinical measurements in the Pima Indians dataset (768 patients, 8 features).</a:t>
            </a:r>
          </a:p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Regression, SVM, Random Forest and boosting models are trained with cross-validation and hyperparameter tuning, then judged on recall and PR-AUC rather than plain accuracy. The final model is calibrated, served through a FastAPI endpoint and watched for data drift.</a:t>
            </a:r>
          </a:p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3A5A6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Keywords: diabetes, risk prediction, screening, SVM, Random Forest, FastAPI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658600" y="2194560"/>
            <a:ext cx="5760720" cy="2125980"/>
            <a:chOff x="0" y="0"/>
            <a:chExt cx="7680960" cy="2834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80961" cy="2834640"/>
            </a:xfrm>
            <a:custGeom>
              <a:avLst/>
              <a:gdLst/>
              <a:ahLst/>
              <a:cxnLst/>
              <a:rect r="r" b="b" t="t" l="l"/>
              <a:pathLst>
                <a:path h="2834640" w="76809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461504" y="0"/>
                  </a:lnTo>
                  <a:cubicBezTo>
                    <a:pt x="7582662" y="0"/>
                    <a:pt x="7680961" y="98298"/>
                    <a:pt x="7680961" y="219456"/>
                  </a:cubicBezTo>
                  <a:lnTo>
                    <a:pt x="7680961" y="2615184"/>
                  </a:lnTo>
                  <a:cubicBezTo>
                    <a:pt x="7680961" y="2736342"/>
                    <a:pt x="7582662" y="2834640"/>
                    <a:pt x="746150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070080" y="2359152"/>
            <a:ext cx="4937760" cy="960120"/>
            <a:chOff x="0" y="0"/>
            <a:chExt cx="658368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5836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57A8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768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070080" y="3312795"/>
            <a:ext cx="493776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records with 8 clinical features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658600" y="4594860"/>
            <a:ext cx="5760720" cy="2125980"/>
            <a:chOff x="0" y="0"/>
            <a:chExt cx="7680960" cy="2834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80961" cy="2834640"/>
            </a:xfrm>
            <a:custGeom>
              <a:avLst/>
              <a:gdLst/>
              <a:ahLst/>
              <a:cxnLst/>
              <a:rect r="r" b="b" t="t" l="l"/>
              <a:pathLst>
                <a:path h="2834640" w="76809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461504" y="0"/>
                  </a:lnTo>
                  <a:cubicBezTo>
                    <a:pt x="7582662" y="0"/>
                    <a:pt x="7680961" y="98298"/>
                    <a:pt x="7680961" y="219456"/>
                  </a:cubicBezTo>
                  <a:lnTo>
                    <a:pt x="7680961" y="2615184"/>
                  </a:lnTo>
                  <a:cubicBezTo>
                    <a:pt x="7680961" y="2736342"/>
                    <a:pt x="7582662" y="2834640"/>
                    <a:pt x="746150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0080" y="4759452"/>
            <a:ext cx="4937760" cy="960120"/>
            <a:chOff x="0" y="0"/>
            <a:chExt cx="658368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5836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57A8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0.818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070080" y="5713095"/>
            <a:ext cx="493776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nested cross-validation ROC-AUC (± 0.038)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658600" y="6995160"/>
            <a:ext cx="5760720" cy="2125980"/>
            <a:chOff x="0" y="0"/>
            <a:chExt cx="7680960" cy="2834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80961" cy="2834640"/>
            </a:xfrm>
            <a:custGeom>
              <a:avLst/>
              <a:gdLst/>
              <a:ahLst/>
              <a:cxnLst/>
              <a:rect r="r" b="b" t="t" l="l"/>
              <a:pathLst>
                <a:path h="2834640" w="76809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461504" y="0"/>
                  </a:lnTo>
                  <a:cubicBezTo>
                    <a:pt x="7582662" y="0"/>
                    <a:pt x="7680961" y="98298"/>
                    <a:pt x="7680961" y="219456"/>
                  </a:cubicBezTo>
                  <a:lnTo>
                    <a:pt x="7680961" y="2615184"/>
                  </a:lnTo>
                  <a:cubicBezTo>
                    <a:pt x="7680961" y="2736342"/>
                    <a:pt x="7582662" y="2834640"/>
                    <a:pt x="746150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70080" y="7159752"/>
            <a:ext cx="4937760" cy="960120"/>
            <a:chOff x="0" y="0"/>
            <a:chExt cx="658368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5836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57A8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070080" y="8113395"/>
            <a:ext cx="493776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recall reached at the 0.30 screening threshold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824960" y="9636252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5A6B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C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2863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A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Risk Prediction  ·  End-to-End ML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3441680" cy="1234440"/>
            <a:chOff x="0" y="0"/>
            <a:chExt cx="179222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2475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8161020" cy="2400300"/>
            <a:chOff x="0" y="0"/>
            <a:chExt cx="10881360" cy="3200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80360"/>
            <a:ext cx="1028700" cy="1028700"/>
            <a:chOff x="0" y="0"/>
            <a:chExt cx="137160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12189" y="3158109"/>
            <a:ext cx="473202" cy="473202"/>
            <a:chOff x="0" y="0"/>
            <a:chExt cx="630936" cy="63093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630936" cy="630936"/>
            </a:xfrm>
            <a:custGeom>
              <a:avLst/>
              <a:gdLst/>
              <a:ahLst/>
              <a:cxnLst/>
              <a:rect r="r" b="b" t="t" l="l"/>
              <a:pathLst>
                <a:path h="630936" w="630936">
                  <a:moveTo>
                    <a:pt x="0" y="0"/>
                  </a:moveTo>
                  <a:lnTo>
                    <a:pt x="630936" y="0"/>
                  </a:lnTo>
                  <a:lnTo>
                    <a:pt x="630936" y="630936"/>
                  </a:lnTo>
                  <a:lnTo>
                    <a:pt x="0" y="630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4620" y="2331720"/>
            <a:ext cx="6035040" cy="2125980"/>
            <a:chOff x="0" y="0"/>
            <a:chExt cx="8046720" cy="2834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467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2" r="0" b="-531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046720" cy="289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247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 detection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B25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progresses silently, so complications such as nephropathy and retinopathy appear before diagnosis.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58300" y="2194560"/>
            <a:ext cx="8161020" cy="2400300"/>
            <a:chOff x="0" y="0"/>
            <a:chExt cx="10881360" cy="3200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69780" y="2880360"/>
            <a:ext cx="1028700" cy="1028700"/>
            <a:chOff x="0" y="0"/>
            <a:chExt cx="137160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47529" y="3158109"/>
            <a:ext cx="473202" cy="473202"/>
            <a:chOff x="0" y="0"/>
            <a:chExt cx="630936" cy="630936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630936" cy="630936"/>
            </a:xfrm>
            <a:custGeom>
              <a:avLst/>
              <a:gdLst/>
              <a:ahLst/>
              <a:cxnLst/>
              <a:rect r="r" b="b" t="t" l="l"/>
              <a:pathLst>
                <a:path h="630936" w="630936">
                  <a:moveTo>
                    <a:pt x="0" y="0"/>
                  </a:moveTo>
                  <a:lnTo>
                    <a:pt x="630936" y="0"/>
                  </a:lnTo>
                  <a:lnTo>
                    <a:pt x="630936" y="630936"/>
                  </a:lnTo>
                  <a:lnTo>
                    <a:pt x="0" y="630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109960" y="2331720"/>
            <a:ext cx="6035040" cy="2125980"/>
            <a:chOff x="0" y="0"/>
            <a:chExt cx="8046720" cy="2834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467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2" r="0" b="-53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046720" cy="289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247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Messy clinical data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B25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Impossible zeros in lab values and a 65 / 35 class imbalance can mislead models.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4869180"/>
            <a:ext cx="8161020" cy="2400300"/>
            <a:chOff x="0" y="0"/>
            <a:chExt cx="10881360" cy="3200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" y="5554980"/>
            <a:ext cx="1028700" cy="1028700"/>
            <a:chOff x="0" y="0"/>
            <a:chExt cx="137160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D9482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12189" y="5832729"/>
            <a:ext cx="473202" cy="473202"/>
            <a:chOff x="0" y="0"/>
            <a:chExt cx="630936" cy="630936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630936" cy="630936"/>
            </a:xfrm>
            <a:custGeom>
              <a:avLst/>
              <a:gdLst/>
              <a:ahLst/>
              <a:cxnLst/>
              <a:rect r="r" b="b" t="t" l="l"/>
              <a:pathLst>
                <a:path h="630936" w="630936">
                  <a:moveTo>
                    <a:pt x="0" y="0"/>
                  </a:moveTo>
                  <a:lnTo>
                    <a:pt x="630936" y="0"/>
                  </a:lnTo>
                  <a:lnTo>
                    <a:pt x="630936" y="630936"/>
                  </a:lnTo>
                  <a:lnTo>
                    <a:pt x="0" y="630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674620" y="5006340"/>
            <a:ext cx="6035040" cy="2125980"/>
            <a:chOff x="0" y="0"/>
            <a:chExt cx="8046720" cy="2834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67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2" r="0" b="-531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8046720" cy="289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247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Missed cases are costly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B25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false negative leaves a patient untreated, so raw accuracy is the wrong goal.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58300" y="4869180"/>
            <a:ext cx="8161020" cy="2400300"/>
            <a:chOff x="0" y="0"/>
            <a:chExt cx="10881360" cy="3200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81361" cy="3200400"/>
            </a:xfrm>
            <a:custGeom>
              <a:avLst/>
              <a:gdLst/>
              <a:ahLst/>
              <a:cxnLst/>
              <a:rect r="r" b="b" t="t" l="l"/>
              <a:pathLst>
                <a:path h="3200400" w="108813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661904" y="0"/>
                  </a:lnTo>
                  <a:cubicBezTo>
                    <a:pt x="10783062" y="0"/>
                    <a:pt x="10881361" y="98298"/>
                    <a:pt x="10881361" y="219456"/>
                  </a:cubicBezTo>
                  <a:lnTo>
                    <a:pt x="10881361" y="2980944"/>
                  </a:lnTo>
                  <a:cubicBezTo>
                    <a:pt x="10881361" y="3102102"/>
                    <a:pt x="10783062" y="3200400"/>
                    <a:pt x="1066190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69780" y="5554980"/>
            <a:ext cx="1028700" cy="1028700"/>
            <a:chOff x="0" y="0"/>
            <a:chExt cx="1371600" cy="137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947529" y="5832729"/>
            <a:ext cx="473202" cy="473202"/>
            <a:chOff x="0" y="0"/>
            <a:chExt cx="630936" cy="630936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630936" cy="630936"/>
            </a:xfrm>
            <a:custGeom>
              <a:avLst/>
              <a:gdLst/>
              <a:ahLst/>
              <a:cxnLst/>
              <a:rect r="r" b="b" t="t" l="l"/>
              <a:pathLst>
                <a:path h="630936" w="630936">
                  <a:moveTo>
                    <a:pt x="0" y="0"/>
                  </a:moveTo>
                  <a:lnTo>
                    <a:pt x="630936" y="0"/>
                  </a:lnTo>
                  <a:lnTo>
                    <a:pt x="630936" y="630936"/>
                  </a:lnTo>
                  <a:lnTo>
                    <a:pt x="0" y="630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109960" y="5006340"/>
            <a:ext cx="6035040" cy="2125980"/>
            <a:chOff x="0" y="0"/>
            <a:chExt cx="8046720" cy="2834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2" r="0" b="-531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8046720" cy="2891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247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 decay in production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B25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Preprocessing mismatches and data drift can quietly degrade predictions after deployment.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7680960"/>
            <a:ext cx="16596360" cy="1577340"/>
            <a:chOff x="0" y="0"/>
            <a:chExt cx="22128480" cy="2103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1883664"/>
                  </a:lnTo>
                  <a:cubicBezTo>
                    <a:pt x="22128480" y="2004822"/>
                    <a:pt x="22030182" y="2103120"/>
                    <a:pt x="21909024" y="2103120"/>
                  </a:cubicBezTo>
                  <a:lnTo>
                    <a:pt x="219456" y="2103120"/>
                  </a:lnTo>
                  <a:cubicBezTo>
                    <a:pt x="98298" y="2103120"/>
                    <a:pt x="0" y="2004822"/>
                    <a:pt x="0" y="188366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03020" y="7680960"/>
            <a:ext cx="15636240" cy="1577340"/>
            <a:chOff x="0" y="0"/>
            <a:chExt cx="20848320" cy="21031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8483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156" r="0" b="-14315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20848320" cy="21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8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Goal: </a:t>
              </a: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reliable, explainable ML screening system that flags at-risk patients early while keeping missed cases to a minimum.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6824960" y="9636252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5A6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2863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A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Risk Prediction  ·  End-to-End ML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3441680" cy="1234440"/>
            <a:chOff x="0" y="0"/>
            <a:chExt cx="179222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2475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Proposed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2537460" cy="3291840"/>
            <a:chOff x="0" y="0"/>
            <a:chExt cx="3383280" cy="438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832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3383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163824" y="0"/>
                  </a:lnTo>
                  <a:cubicBezTo>
                    <a:pt x="3284982" y="0"/>
                    <a:pt x="3383280" y="98298"/>
                    <a:pt x="3383280" y="219456"/>
                  </a:cubicBezTo>
                  <a:lnTo>
                    <a:pt x="3383280" y="4169664"/>
                  </a:lnTo>
                  <a:cubicBezTo>
                    <a:pt x="3383280" y="4290822"/>
                    <a:pt x="3284982" y="4389120"/>
                    <a:pt x="316382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246888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FB49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7280" y="3322320"/>
            <a:ext cx="2057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Clinical input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7280" y="3930015"/>
            <a:ext cx="20574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AF4F4"/>
                </a:solidFill>
                <a:latin typeface="Calibri (MS)"/>
                <a:ea typeface="Calibri (MS)"/>
                <a:cs typeface="Calibri (MS)"/>
                <a:sym typeface="Calibri (MS)"/>
              </a:rPr>
              <a:t>8 measurements sent to the API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634740" y="2194560"/>
            <a:ext cx="2537460" cy="3291840"/>
            <a:chOff x="0" y="0"/>
            <a:chExt cx="3383280" cy="4389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832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3383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163824" y="0"/>
                  </a:lnTo>
                  <a:cubicBezTo>
                    <a:pt x="3284982" y="0"/>
                    <a:pt x="3383280" y="98298"/>
                    <a:pt x="3383280" y="219456"/>
                  </a:cubicBezTo>
                  <a:lnTo>
                    <a:pt x="3383280" y="4169664"/>
                  </a:lnTo>
                  <a:cubicBezTo>
                    <a:pt x="3383280" y="4290822"/>
                    <a:pt x="3284982" y="4389120"/>
                    <a:pt x="316382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909060" y="2468880"/>
            <a:ext cx="685800" cy="685800"/>
            <a:chOff x="0" y="0"/>
            <a:chExt cx="914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FB49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909060" y="3322320"/>
            <a:ext cx="2057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Preprocess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09060" y="3930015"/>
            <a:ext cx="20574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AF4F4"/>
                </a:solidFill>
                <a:latin typeface="Calibri (MS)"/>
                <a:ea typeface="Calibri (MS)"/>
                <a:cs typeface="Calibri (MS)"/>
                <a:sym typeface="Calibri (MS)"/>
              </a:rPr>
              <a:t>Zero→NaN, impute, scale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446520" y="2194560"/>
            <a:ext cx="2537460" cy="3291840"/>
            <a:chOff x="0" y="0"/>
            <a:chExt cx="3383280" cy="4389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832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3383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163824" y="0"/>
                  </a:lnTo>
                  <a:cubicBezTo>
                    <a:pt x="3284982" y="0"/>
                    <a:pt x="3383280" y="98298"/>
                    <a:pt x="3383280" y="219456"/>
                  </a:cubicBezTo>
                  <a:lnTo>
                    <a:pt x="3383280" y="4169664"/>
                  </a:lnTo>
                  <a:cubicBezTo>
                    <a:pt x="3383280" y="4290822"/>
                    <a:pt x="3284982" y="4389120"/>
                    <a:pt x="316382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720840" y="2468880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FB49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720840" y="3322320"/>
            <a:ext cx="2057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Train and tune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20840" y="3930015"/>
            <a:ext cx="20574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AF4F4"/>
                </a:solidFill>
                <a:latin typeface="Calibri (MS)"/>
                <a:ea typeface="Calibri (MS)"/>
                <a:cs typeface="Calibri (MS)"/>
                <a:sym typeface="Calibri (MS)"/>
              </a:rPr>
              <a:t>LogReg, SVM, RF, boosting with CV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8300" y="2194560"/>
            <a:ext cx="2537460" cy="3291840"/>
            <a:chOff x="0" y="0"/>
            <a:chExt cx="3383280" cy="4389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832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3383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163824" y="0"/>
                  </a:lnTo>
                  <a:cubicBezTo>
                    <a:pt x="3284982" y="0"/>
                    <a:pt x="3383280" y="98298"/>
                    <a:pt x="3383280" y="219456"/>
                  </a:cubicBezTo>
                  <a:lnTo>
                    <a:pt x="3383280" y="4169664"/>
                  </a:lnTo>
                  <a:cubicBezTo>
                    <a:pt x="3383280" y="4290822"/>
                    <a:pt x="3284982" y="4389120"/>
                    <a:pt x="316382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32620" y="246888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FB49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532620" y="3322320"/>
            <a:ext cx="2057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Calibrate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32620" y="3930015"/>
            <a:ext cx="20574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AF4F4"/>
                </a:solidFill>
                <a:latin typeface="Calibri (MS)"/>
                <a:ea typeface="Calibri (MS)"/>
                <a:cs typeface="Calibri (MS)"/>
                <a:sym typeface="Calibri (MS)"/>
              </a:rPr>
              <a:t>Platt scaling, threshold 0.30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070080" y="2194560"/>
            <a:ext cx="2537460" cy="3291840"/>
            <a:chOff x="0" y="0"/>
            <a:chExt cx="3383280" cy="4389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832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3383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163824" y="0"/>
                  </a:lnTo>
                  <a:cubicBezTo>
                    <a:pt x="3284982" y="0"/>
                    <a:pt x="3383280" y="98298"/>
                    <a:pt x="3383280" y="219456"/>
                  </a:cubicBezTo>
                  <a:lnTo>
                    <a:pt x="3383280" y="4169664"/>
                  </a:lnTo>
                  <a:cubicBezTo>
                    <a:pt x="3383280" y="4290822"/>
                    <a:pt x="3284982" y="4389120"/>
                    <a:pt x="316382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344400" y="246888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FB49C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344400" y="3322320"/>
            <a:ext cx="2057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44400" y="3930015"/>
            <a:ext cx="20574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AF4F4"/>
                </a:solidFill>
                <a:latin typeface="Calibri (MS)"/>
                <a:ea typeface="Calibri (MS)"/>
                <a:cs typeface="Calibri (MS)"/>
                <a:sym typeface="Calibri (MS)"/>
              </a:rPr>
              <a:t>FastAPI risk tier and advisory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881860" y="2194560"/>
            <a:ext cx="2537460" cy="3291840"/>
            <a:chOff x="0" y="0"/>
            <a:chExt cx="3383280" cy="4389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832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3383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163824" y="0"/>
                  </a:lnTo>
                  <a:cubicBezTo>
                    <a:pt x="3284982" y="0"/>
                    <a:pt x="3383280" y="98298"/>
                    <a:pt x="3383280" y="219456"/>
                  </a:cubicBezTo>
                  <a:lnTo>
                    <a:pt x="3383280" y="4169664"/>
                  </a:lnTo>
                  <a:cubicBezTo>
                    <a:pt x="3383280" y="4290822"/>
                    <a:pt x="3284982" y="4389120"/>
                    <a:pt x="316382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156180" y="2468880"/>
            <a:ext cx="685800" cy="685800"/>
            <a:chOff x="0" y="0"/>
            <a:chExt cx="9144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FB49C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B2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5156180" y="3322320"/>
            <a:ext cx="2057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Monitor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156180" y="3930015"/>
            <a:ext cx="20574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EAF4F4"/>
                </a:solidFill>
                <a:latin typeface="Calibri (MS)"/>
                <a:ea typeface="Calibri (MS)"/>
                <a:cs typeface="Calibri (MS)"/>
                <a:sym typeface="Calibri (MS)"/>
              </a:rPr>
              <a:t>PSI drift alerts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22960" y="5897880"/>
            <a:ext cx="5349240" cy="3360420"/>
            <a:chOff x="0" y="0"/>
            <a:chExt cx="7132320" cy="4480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32320" cy="4480560"/>
            </a:xfrm>
            <a:custGeom>
              <a:avLst/>
              <a:gdLst/>
              <a:ahLst/>
              <a:cxnLst/>
              <a:rect r="r" b="b" t="t" l="l"/>
              <a:pathLst>
                <a:path h="448056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261104"/>
                  </a:lnTo>
                  <a:cubicBezTo>
                    <a:pt x="7132320" y="4382262"/>
                    <a:pt x="7034022" y="4480560"/>
                    <a:pt x="6912864" y="4480560"/>
                  </a:cubicBezTo>
                  <a:lnTo>
                    <a:pt x="219456" y="4480560"/>
                  </a:lnTo>
                  <a:cubicBezTo>
                    <a:pt x="98298" y="4480560"/>
                    <a:pt x="0" y="4382262"/>
                    <a:pt x="0" y="426110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34440" y="6172200"/>
            <a:ext cx="822960" cy="822960"/>
            <a:chOff x="0" y="0"/>
            <a:chExt cx="109728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56639" y="6394399"/>
            <a:ext cx="378562" cy="378562"/>
            <a:chOff x="0" y="0"/>
            <a:chExt cx="504749" cy="504749"/>
          </a:xfrm>
        </p:grpSpPr>
        <p:sp>
          <p:nvSpPr>
            <p:cNvPr name="Freeform 55" id="55" descr="preencoded.png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0" b="-1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331720" y="6172200"/>
            <a:ext cx="3566160" cy="822960"/>
            <a:chOff x="0" y="0"/>
            <a:chExt cx="475488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247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atomic pipeline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234440" y="7153275"/>
            <a:ext cx="4594860" cy="203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Sanitising, imputing, scaling and the model live in one scikit-learn pipeline, so training and serving never differ.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446520" y="5897880"/>
            <a:ext cx="5349240" cy="3360420"/>
            <a:chOff x="0" y="0"/>
            <a:chExt cx="7132320" cy="44805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32320" cy="4480560"/>
            </a:xfrm>
            <a:custGeom>
              <a:avLst/>
              <a:gdLst/>
              <a:ahLst/>
              <a:cxnLst/>
              <a:rect r="r" b="b" t="t" l="l"/>
              <a:pathLst>
                <a:path h="448056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261104"/>
                  </a:lnTo>
                  <a:cubicBezTo>
                    <a:pt x="7132320" y="4382262"/>
                    <a:pt x="7034022" y="4480560"/>
                    <a:pt x="6912864" y="4480560"/>
                  </a:cubicBezTo>
                  <a:lnTo>
                    <a:pt x="219456" y="4480560"/>
                  </a:lnTo>
                  <a:cubicBezTo>
                    <a:pt x="98298" y="4480560"/>
                    <a:pt x="0" y="4382262"/>
                    <a:pt x="0" y="426110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858000" y="6172200"/>
            <a:ext cx="822960" cy="822960"/>
            <a:chOff x="0" y="0"/>
            <a:chExt cx="109728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080199" y="6394399"/>
            <a:ext cx="378562" cy="378562"/>
            <a:chOff x="0" y="0"/>
            <a:chExt cx="504749" cy="504749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0" b="-1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955280" y="6172200"/>
            <a:ext cx="3566160" cy="822960"/>
            <a:chOff x="0" y="0"/>
            <a:chExt cx="475488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247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Eight models compared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6858000" y="7153275"/>
            <a:ext cx="4594860" cy="203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Regression, SVM, Random Forest, AdaBoost, gradient boosting and a decision tree, tuned with cross-validation.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70080" y="5897880"/>
            <a:ext cx="5349240" cy="3360420"/>
            <a:chOff x="0" y="0"/>
            <a:chExt cx="7132320" cy="44805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32320" cy="4480560"/>
            </a:xfrm>
            <a:custGeom>
              <a:avLst/>
              <a:gdLst/>
              <a:ahLst/>
              <a:cxnLst/>
              <a:rect r="r" b="b" t="t" l="l"/>
              <a:pathLst>
                <a:path h="448056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261104"/>
                  </a:lnTo>
                  <a:cubicBezTo>
                    <a:pt x="7132320" y="4382262"/>
                    <a:pt x="7034022" y="4480560"/>
                    <a:pt x="6912864" y="4480560"/>
                  </a:cubicBezTo>
                  <a:lnTo>
                    <a:pt x="219456" y="4480560"/>
                  </a:lnTo>
                  <a:cubicBezTo>
                    <a:pt x="98298" y="4480560"/>
                    <a:pt x="0" y="4382262"/>
                    <a:pt x="0" y="426110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481560" y="6172200"/>
            <a:ext cx="822960" cy="822960"/>
            <a:chOff x="0" y="0"/>
            <a:chExt cx="1097280" cy="10972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703759" y="6394399"/>
            <a:ext cx="378562" cy="378562"/>
            <a:chOff x="0" y="0"/>
            <a:chExt cx="504749" cy="504749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504698" cy="504698"/>
            </a:xfrm>
            <a:custGeom>
              <a:avLst/>
              <a:gdLst/>
              <a:ahLst/>
              <a:cxnLst/>
              <a:rect r="r" b="b" t="t" l="l"/>
              <a:pathLst>
                <a:path h="504698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0" b="-1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578840" y="6172200"/>
            <a:ext cx="3566160" cy="822960"/>
            <a:chOff x="0" y="0"/>
            <a:chExt cx="4754880" cy="1097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247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Clinically tuned output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2481560" y="7153275"/>
            <a:ext cx="4594860" cy="203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A 0.30 threshold favours recall, and each prediction returns a Low, Moderate or High tier with an advisory.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6824960" y="9636252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5A6B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2863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A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Risk Prediction  ·  End-to-End ML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3441680" cy="1234440"/>
            <a:chOff x="0" y="0"/>
            <a:chExt cx="179222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2475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Proposed system: results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09728" y="1193292"/>
            <a:ext cx="11192256" cy="8860536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0698480" y="2194560"/>
            <a:ext cx="6720840" cy="3566160"/>
            <a:chOff x="0" y="0"/>
            <a:chExt cx="8961120" cy="4754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611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89611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8741664" y="0"/>
                  </a:lnTo>
                  <a:cubicBezTo>
                    <a:pt x="8862822" y="0"/>
                    <a:pt x="8961120" y="98298"/>
                    <a:pt x="8961120" y="219456"/>
                  </a:cubicBezTo>
                  <a:lnTo>
                    <a:pt x="8961120" y="4535424"/>
                  </a:lnTo>
                  <a:cubicBezTo>
                    <a:pt x="8961120" y="4656582"/>
                    <a:pt x="8862822" y="4754880"/>
                    <a:pt x="874166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109960" y="2400300"/>
            <a:ext cx="5897880" cy="1508760"/>
            <a:chOff x="0" y="0"/>
            <a:chExt cx="7863840" cy="2011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638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786384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360"/>
                </a:lnSpc>
              </a:pPr>
              <a:r>
                <a:rPr lang="en-US" sz="7800" b="true">
                  <a:solidFill>
                    <a:srgbClr val="E8A93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13 → 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109960" y="4008120"/>
            <a:ext cx="5897880" cy="154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missed diabetic cases at threshold 0.30, a 69.2% reduction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698480" y="6103620"/>
            <a:ext cx="3223260" cy="3017520"/>
            <a:chOff x="0" y="0"/>
            <a:chExt cx="4297680" cy="4023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76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2976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078224" y="0"/>
                  </a:lnTo>
                  <a:cubicBezTo>
                    <a:pt x="4199382" y="0"/>
                    <a:pt x="4297680" y="98298"/>
                    <a:pt x="4297680" y="219456"/>
                  </a:cubicBezTo>
                  <a:lnTo>
                    <a:pt x="4297680" y="3803904"/>
                  </a:lnTo>
                  <a:cubicBezTo>
                    <a:pt x="4297680" y="3925062"/>
                    <a:pt x="4199382" y="4023360"/>
                    <a:pt x="4078224" y="4023360"/>
                  </a:cubicBezTo>
                  <a:lnTo>
                    <a:pt x="219456" y="4023360"/>
                  </a:lnTo>
                  <a:cubicBezTo>
                    <a:pt x="98298" y="4023360"/>
                    <a:pt x="0" y="3925062"/>
                    <a:pt x="0" y="380390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0" y="6309360"/>
            <a:ext cx="2743200" cy="1234440"/>
            <a:chOff x="0" y="0"/>
            <a:chExt cx="365760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6576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57A8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0.840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972800" y="7633335"/>
            <a:ext cx="274320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best ROC-AUC (linear SVM)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196060" y="6103620"/>
            <a:ext cx="3223260" cy="3017520"/>
            <a:chOff x="0" y="0"/>
            <a:chExt cx="4297680" cy="4023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976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42976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078224" y="0"/>
                  </a:lnTo>
                  <a:cubicBezTo>
                    <a:pt x="4199382" y="0"/>
                    <a:pt x="4297680" y="98298"/>
                    <a:pt x="4297680" y="219456"/>
                  </a:cubicBezTo>
                  <a:lnTo>
                    <a:pt x="4297680" y="3803904"/>
                  </a:lnTo>
                  <a:cubicBezTo>
                    <a:pt x="4297680" y="3925062"/>
                    <a:pt x="4199382" y="4023360"/>
                    <a:pt x="4078224" y="4023360"/>
                  </a:cubicBezTo>
                  <a:lnTo>
                    <a:pt x="219456" y="4023360"/>
                  </a:lnTo>
                  <a:cubicBezTo>
                    <a:pt x="98298" y="4023360"/>
                    <a:pt x="0" y="3925062"/>
                    <a:pt x="0" y="380390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470380" y="6309360"/>
            <a:ext cx="2743200" cy="1234440"/>
            <a:chOff x="0" y="0"/>
            <a:chExt cx="3657600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6576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57A8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≈ 2.5 ms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470380" y="7633335"/>
            <a:ext cx="2743200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latency per request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824960" y="9636252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5A6B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2863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A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Risk Prediction  ·  End-to-End ML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3441680" cy="1234440"/>
            <a:chOff x="0" y="0"/>
            <a:chExt cx="179222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2475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website screenshots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2629" y="2066802"/>
            <a:ext cx="5377815" cy="4966335"/>
            <a:chOff x="0" y="0"/>
            <a:chExt cx="7170420" cy="66217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70420" cy="6621780"/>
            </a:xfrm>
            <a:custGeom>
              <a:avLst/>
              <a:gdLst/>
              <a:ahLst/>
              <a:cxnLst/>
              <a:rect r="r" b="b" t="t" l="l"/>
              <a:pathLst>
                <a:path h="6621780" w="717042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6949694" y="0"/>
                  </a:lnTo>
                  <a:cubicBezTo>
                    <a:pt x="7071613" y="0"/>
                    <a:pt x="7170420" y="98806"/>
                    <a:pt x="7170420" y="220726"/>
                  </a:cubicBezTo>
                  <a:lnTo>
                    <a:pt x="7170420" y="6401054"/>
                  </a:lnTo>
                  <a:cubicBezTo>
                    <a:pt x="7170420" y="6522974"/>
                    <a:pt x="7071613" y="6621780"/>
                    <a:pt x="6949694" y="6621780"/>
                  </a:cubicBezTo>
                  <a:lnTo>
                    <a:pt x="220726" y="6621780"/>
                  </a:lnTo>
                  <a:cubicBezTo>
                    <a:pt x="98806" y="6621780"/>
                    <a:pt x="0" y="6522974"/>
                    <a:pt x="0" y="6401054"/>
                  </a:cubicBezTo>
                  <a:close/>
                </a:path>
              </a:pathLst>
            </a:custGeom>
            <a:blipFill>
              <a:blip r:embed="rId4"/>
              <a:stretch>
                <a:fillRect l="0" t="-19274" r="0" b="-15241"/>
              </a:stretch>
            </a:blipFill>
            <a:ln w="28575" cap="sq">
              <a:solidFill>
                <a:srgbClr val="9FC5CE"/>
              </a:solidFill>
              <a:prstDash val="dash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540444" y="1783080"/>
            <a:ext cx="6542930" cy="5193277"/>
            <a:chOff x="0" y="0"/>
            <a:chExt cx="8342678" cy="66217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42678" cy="6621780"/>
            </a:xfrm>
            <a:custGeom>
              <a:avLst/>
              <a:gdLst/>
              <a:ahLst/>
              <a:cxnLst/>
              <a:rect r="r" b="b" t="t" l="l"/>
              <a:pathLst>
                <a:path h="6621780" w="8342678">
                  <a:moveTo>
                    <a:pt x="0" y="220726"/>
                  </a:moveTo>
                  <a:cubicBezTo>
                    <a:pt x="0" y="98806"/>
                    <a:pt x="114959" y="0"/>
                    <a:pt x="256811" y="0"/>
                  </a:cubicBezTo>
                  <a:lnTo>
                    <a:pt x="8085867" y="0"/>
                  </a:lnTo>
                  <a:cubicBezTo>
                    <a:pt x="8227719" y="0"/>
                    <a:pt x="8342678" y="98806"/>
                    <a:pt x="8342678" y="220726"/>
                  </a:cubicBezTo>
                  <a:lnTo>
                    <a:pt x="8342678" y="6401054"/>
                  </a:lnTo>
                  <a:cubicBezTo>
                    <a:pt x="8342678" y="6522974"/>
                    <a:pt x="8227719" y="6621780"/>
                    <a:pt x="8085867" y="6621780"/>
                  </a:cubicBezTo>
                  <a:lnTo>
                    <a:pt x="256811" y="6621780"/>
                  </a:lnTo>
                  <a:cubicBezTo>
                    <a:pt x="114959" y="6621780"/>
                    <a:pt x="0" y="6522974"/>
                    <a:pt x="0" y="6401054"/>
                  </a:cubicBezTo>
                  <a:close/>
                </a:path>
              </a:pathLst>
            </a:custGeom>
            <a:blipFill>
              <a:blip r:embed="rId5"/>
              <a:stretch>
                <a:fillRect l="0" t="-1419" r="0" b="-1419"/>
              </a:stretch>
            </a:blipFill>
            <a:ln w="28575" cap="sq">
              <a:solidFill>
                <a:srgbClr val="9FC5CE"/>
              </a:solidFill>
              <a:prstDash val="dash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04888" y="1783080"/>
            <a:ext cx="5736335" cy="5193277"/>
            <a:chOff x="0" y="0"/>
            <a:chExt cx="2857381" cy="25868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57381" cy="2586873"/>
            </a:xfrm>
            <a:custGeom>
              <a:avLst/>
              <a:gdLst/>
              <a:ahLst/>
              <a:cxnLst/>
              <a:rect r="r" b="b" t="t" l="l"/>
              <a:pathLst>
                <a:path h="2586873" w="2857381">
                  <a:moveTo>
                    <a:pt x="0" y="0"/>
                  </a:moveTo>
                  <a:lnTo>
                    <a:pt x="2857381" y="0"/>
                  </a:lnTo>
                  <a:lnTo>
                    <a:pt x="2857381" y="2586873"/>
                  </a:lnTo>
                  <a:lnTo>
                    <a:pt x="0" y="2586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2717" t="0" r="-2271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22960" y="7418070"/>
            <a:ext cx="5349240" cy="15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 input form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Enter the eight clinical measurements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46520" y="7418070"/>
            <a:ext cx="5349240" cy="15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Prediction result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Risk probability, tier and advisory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70080" y="7418070"/>
            <a:ext cx="5349240" cy="156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API documentation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/docs page for /predict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824960" y="9636252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5A6B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2863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A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Risk Prediction  ·  End-to-End ML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3441680" cy="1234440"/>
            <a:chOff x="0" y="0"/>
            <a:chExt cx="179222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2475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Advantages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5349240" cy="3291840"/>
            <a:chOff x="0" y="0"/>
            <a:chExt cx="7132320" cy="438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60604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93672" y="2865272"/>
            <a:ext cx="441655" cy="441655"/>
            <a:chOff x="0" y="0"/>
            <a:chExt cx="588874" cy="58887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88899" cy="588899"/>
            </a:xfrm>
            <a:custGeom>
              <a:avLst/>
              <a:gdLst/>
              <a:ahLst/>
              <a:cxnLst/>
              <a:rect r="r" b="b" t="t" l="l"/>
              <a:pathLst>
                <a:path h="588899" w="588899">
                  <a:moveTo>
                    <a:pt x="0" y="0"/>
                  </a:moveTo>
                  <a:lnTo>
                    <a:pt x="588899" y="0"/>
                  </a:lnTo>
                  <a:lnTo>
                    <a:pt x="588899" y="588899"/>
                  </a:lnTo>
                  <a:lnTo>
                    <a:pt x="0" y="588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4440" y="3714750"/>
            <a:ext cx="45262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Early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4440" y="4341495"/>
            <a:ext cx="452628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90% recall at threshold 0.30 cuts missed cases from 13 to 4.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46520" y="2194560"/>
            <a:ext cx="5349240" cy="3291840"/>
            <a:chOff x="0" y="0"/>
            <a:chExt cx="7132320" cy="4389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58000" y="2606040"/>
            <a:ext cx="960120" cy="960120"/>
            <a:chOff x="0" y="0"/>
            <a:chExt cx="128016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17232" y="2865272"/>
            <a:ext cx="441655" cy="441655"/>
            <a:chOff x="0" y="0"/>
            <a:chExt cx="588874" cy="588874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588899" cy="588899"/>
            </a:xfrm>
            <a:custGeom>
              <a:avLst/>
              <a:gdLst/>
              <a:ahLst/>
              <a:cxnLst/>
              <a:rect r="r" b="b" t="t" l="l"/>
              <a:pathLst>
                <a:path h="588899" w="588899">
                  <a:moveTo>
                    <a:pt x="0" y="0"/>
                  </a:moveTo>
                  <a:lnTo>
                    <a:pt x="588899" y="0"/>
                  </a:lnTo>
                  <a:lnTo>
                    <a:pt x="588899" y="588899"/>
                  </a:lnTo>
                  <a:lnTo>
                    <a:pt x="0" y="588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858000" y="3714750"/>
            <a:ext cx="45262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Explainable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58000" y="4341495"/>
            <a:ext cx="452628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SHAP shows that Glucose, BMI and Age drive each risk score.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70080" y="2194560"/>
            <a:ext cx="5349240" cy="3291840"/>
            <a:chOff x="0" y="0"/>
            <a:chExt cx="7132320" cy="4389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81560" y="2606040"/>
            <a:ext cx="960120" cy="960120"/>
            <a:chOff x="0" y="0"/>
            <a:chExt cx="128016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740792" y="2865272"/>
            <a:ext cx="441655" cy="441655"/>
            <a:chOff x="0" y="0"/>
            <a:chExt cx="588874" cy="588874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88899" cy="588899"/>
            </a:xfrm>
            <a:custGeom>
              <a:avLst/>
              <a:gdLst/>
              <a:ahLst/>
              <a:cxnLst/>
              <a:rect r="r" b="b" t="t" l="l"/>
              <a:pathLst>
                <a:path h="588899" w="588899">
                  <a:moveTo>
                    <a:pt x="0" y="0"/>
                  </a:moveTo>
                  <a:lnTo>
                    <a:pt x="588899" y="0"/>
                  </a:lnTo>
                  <a:lnTo>
                    <a:pt x="588899" y="588899"/>
                  </a:lnTo>
                  <a:lnTo>
                    <a:pt x="0" y="588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481560" y="3714750"/>
            <a:ext cx="45262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Trustworthy estimates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81560" y="4341495"/>
            <a:ext cx="452628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Nested cross-validation and Platt calibration give honest probabilities.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2960" y="5760720"/>
            <a:ext cx="5349240" cy="3291840"/>
            <a:chOff x="0" y="0"/>
            <a:chExt cx="7132320" cy="4389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4440" y="6172200"/>
            <a:ext cx="960120" cy="960120"/>
            <a:chOff x="0" y="0"/>
            <a:chExt cx="12801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93672" y="6431432"/>
            <a:ext cx="441655" cy="441655"/>
            <a:chOff x="0" y="0"/>
            <a:chExt cx="588874" cy="588874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88899" cy="588899"/>
            </a:xfrm>
            <a:custGeom>
              <a:avLst/>
              <a:gdLst/>
              <a:ahLst/>
              <a:cxnLst/>
              <a:rect r="r" b="b" t="t" l="l"/>
              <a:pathLst>
                <a:path h="588899" w="588899">
                  <a:moveTo>
                    <a:pt x="0" y="0"/>
                  </a:moveTo>
                  <a:lnTo>
                    <a:pt x="588899" y="0"/>
                  </a:lnTo>
                  <a:lnTo>
                    <a:pt x="588899" y="588899"/>
                  </a:lnTo>
                  <a:lnTo>
                    <a:pt x="0" y="588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4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34440" y="7280910"/>
            <a:ext cx="45262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Consistent results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4440" y="7907655"/>
            <a:ext cx="452628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One shared pipeline removes training–serving skew.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446520" y="5760720"/>
            <a:ext cx="5349240" cy="3291840"/>
            <a:chOff x="0" y="0"/>
            <a:chExt cx="7132320" cy="4389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858000" y="6172200"/>
            <a:ext cx="960120" cy="960120"/>
            <a:chOff x="0" y="0"/>
            <a:chExt cx="1280160" cy="1280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17232" y="6431432"/>
            <a:ext cx="441655" cy="441655"/>
            <a:chOff x="0" y="0"/>
            <a:chExt cx="588874" cy="588874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588899" cy="588899"/>
            </a:xfrm>
            <a:custGeom>
              <a:avLst/>
              <a:gdLst/>
              <a:ahLst/>
              <a:cxnLst/>
              <a:rect r="r" b="b" t="t" l="l"/>
              <a:pathLst>
                <a:path h="588899" w="588899">
                  <a:moveTo>
                    <a:pt x="0" y="0"/>
                  </a:moveTo>
                  <a:lnTo>
                    <a:pt x="588899" y="0"/>
                  </a:lnTo>
                  <a:lnTo>
                    <a:pt x="588899" y="588899"/>
                  </a:lnTo>
                  <a:lnTo>
                    <a:pt x="0" y="588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4" b="4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6858000" y="7280910"/>
            <a:ext cx="45262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 and portable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58000" y="7907655"/>
            <a:ext cx="452628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About 2.5 ms per prediction, with ONNX export for any runtime.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070080" y="5760720"/>
            <a:ext cx="5349240" cy="3291840"/>
            <a:chOff x="0" y="0"/>
            <a:chExt cx="7132320" cy="4389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323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4169664"/>
                  </a:lnTo>
                  <a:cubicBezTo>
                    <a:pt x="7132320" y="4290822"/>
                    <a:pt x="7034022" y="4389120"/>
                    <a:pt x="6912864" y="4389120"/>
                  </a:cubicBezTo>
                  <a:lnTo>
                    <a:pt x="219456" y="4389120"/>
                  </a:lnTo>
                  <a:cubicBezTo>
                    <a:pt x="98298" y="4389120"/>
                    <a:pt x="0" y="4290822"/>
                    <a:pt x="0" y="416966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481560" y="6172200"/>
            <a:ext cx="960120" cy="960120"/>
            <a:chOff x="0" y="0"/>
            <a:chExt cx="1280160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740792" y="6431432"/>
            <a:ext cx="441655" cy="441655"/>
            <a:chOff x="0" y="0"/>
            <a:chExt cx="588874" cy="588874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588899" cy="588899"/>
            </a:xfrm>
            <a:custGeom>
              <a:avLst/>
              <a:gdLst/>
              <a:ahLst/>
              <a:cxnLst/>
              <a:rect r="r" b="b" t="t" l="l"/>
              <a:pathLst>
                <a:path h="588899" w="588899">
                  <a:moveTo>
                    <a:pt x="0" y="0"/>
                  </a:moveTo>
                  <a:lnTo>
                    <a:pt x="588899" y="0"/>
                  </a:lnTo>
                  <a:lnTo>
                    <a:pt x="588899" y="588899"/>
                  </a:lnTo>
                  <a:lnTo>
                    <a:pt x="0" y="588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4" b="4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2481560" y="7280910"/>
            <a:ext cx="452628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Self-monitoring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481560" y="7907655"/>
            <a:ext cx="452628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PSI drift checks trigger retraining when patient data shifts.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824960" y="9636252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5A6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2863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A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Risk Prediction  ·  End-to-End ML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3441680" cy="1234440"/>
            <a:chOff x="0" y="0"/>
            <a:chExt cx="179222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12475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Real-life implementation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3977640" cy="3566160"/>
            <a:chOff x="0" y="0"/>
            <a:chExt cx="5303520" cy="4754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35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53035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4535424"/>
                  </a:lnTo>
                  <a:cubicBezTo>
                    <a:pt x="5303520" y="4656582"/>
                    <a:pt x="5205222" y="4754880"/>
                    <a:pt x="508406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468880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06576" y="2709596"/>
            <a:ext cx="410108" cy="410108"/>
            <a:chOff x="0" y="0"/>
            <a:chExt cx="546811" cy="54681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46862" cy="546862"/>
            </a:xfrm>
            <a:custGeom>
              <a:avLst/>
              <a:gdLst/>
              <a:ahLst/>
              <a:cxnLst/>
              <a:rect r="r" b="b" t="t" l="l"/>
              <a:pathLst>
                <a:path h="546862" w="546862">
                  <a:moveTo>
                    <a:pt x="0" y="0"/>
                  </a:moveTo>
                  <a:lnTo>
                    <a:pt x="546862" y="0"/>
                  </a:lnTo>
                  <a:lnTo>
                    <a:pt x="546862" y="546862"/>
                  </a:lnTo>
                  <a:lnTo>
                    <a:pt x="0" y="546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9" b="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65860" y="3518535"/>
            <a:ext cx="336042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Clinic triage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5860" y="4135755"/>
            <a:ext cx="3360420" cy="155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Nurses enter routine vitals and get an instant risk tier.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033772" y="2194560"/>
            <a:ext cx="3977640" cy="3566160"/>
            <a:chOff x="0" y="0"/>
            <a:chExt cx="5303520" cy="4754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035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53035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4535424"/>
                  </a:lnTo>
                  <a:cubicBezTo>
                    <a:pt x="5303520" y="4656582"/>
                    <a:pt x="5205222" y="4754880"/>
                    <a:pt x="508406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376672" y="2468880"/>
            <a:ext cx="891540" cy="891540"/>
            <a:chOff x="0" y="0"/>
            <a:chExt cx="1188720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617388" y="2709596"/>
            <a:ext cx="410108" cy="410108"/>
            <a:chOff x="0" y="0"/>
            <a:chExt cx="546811" cy="546811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546862" cy="546862"/>
            </a:xfrm>
            <a:custGeom>
              <a:avLst/>
              <a:gdLst/>
              <a:ahLst/>
              <a:cxnLst/>
              <a:rect r="r" b="b" t="t" l="l"/>
              <a:pathLst>
                <a:path h="546862" w="546862">
                  <a:moveTo>
                    <a:pt x="0" y="0"/>
                  </a:moveTo>
                  <a:lnTo>
                    <a:pt x="546862" y="0"/>
                  </a:lnTo>
                  <a:lnTo>
                    <a:pt x="546862" y="546862"/>
                  </a:lnTo>
                  <a:lnTo>
                    <a:pt x="0" y="546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9" b="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376672" y="3518535"/>
            <a:ext cx="336042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Health camps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76672" y="4135755"/>
            <a:ext cx="3360420" cy="155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Low-cost screening where lab tests are scarce, such as rural drives.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44584" y="2194560"/>
            <a:ext cx="3977640" cy="3566160"/>
            <a:chOff x="0" y="0"/>
            <a:chExt cx="5303520" cy="4754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35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53035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4535424"/>
                  </a:lnTo>
                  <a:cubicBezTo>
                    <a:pt x="5303520" y="4656582"/>
                    <a:pt x="5205222" y="4754880"/>
                    <a:pt x="508406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87484" y="2468880"/>
            <a:ext cx="891540" cy="891540"/>
            <a:chOff x="0" y="0"/>
            <a:chExt cx="1188720" cy="1188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28200" y="2709596"/>
            <a:ext cx="410108" cy="410108"/>
            <a:chOff x="0" y="0"/>
            <a:chExt cx="546811" cy="546811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46862" cy="546862"/>
            </a:xfrm>
            <a:custGeom>
              <a:avLst/>
              <a:gdLst/>
              <a:ahLst/>
              <a:cxnLst/>
              <a:rect r="r" b="b" t="t" l="l"/>
              <a:pathLst>
                <a:path h="546862" w="546862">
                  <a:moveTo>
                    <a:pt x="0" y="0"/>
                  </a:moveTo>
                  <a:lnTo>
                    <a:pt x="546862" y="0"/>
                  </a:lnTo>
                  <a:lnTo>
                    <a:pt x="546862" y="546862"/>
                  </a:lnTo>
                  <a:lnTo>
                    <a:pt x="0" y="546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9" b="9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587484" y="3518535"/>
            <a:ext cx="336042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Hospital systems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87484" y="4135755"/>
            <a:ext cx="3360420" cy="155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The REST API plugs into records software for batch screening.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455396" y="2194560"/>
            <a:ext cx="3977640" cy="3566160"/>
            <a:chOff x="0" y="0"/>
            <a:chExt cx="5303520" cy="4754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4754880"/>
            </a:xfrm>
            <a:custGeom>
              <a:avLst/>
              <a:gdLst/>
              <a:ahLst/>
              <a:cxnLst/>
              <a:rect r="r" b="b" t="t" l="l"/>
              <a:pathLst>
                <a:path h="4754880" w="53035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4535424"/>
                  </a:lnTo>
                  <a:cubicBezTo>
                    <a:pt x="5303520" y="4656582"/>
                    <a:pt x="5205222" y="4754880"/>
                    <a:pt x="508406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EAF4F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798296" y="2468880"/>
            <a:ext cx="891540" cy="891540"/>
            <a:chOff x="0" y="0"/>
            <a:chExt cx="1188720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039012" y="2709596"/>
            <a:ext cx="410108" cy="410108"/>
            <a:chOff x="0" y="0"/>
            <a:chExt cx="546811" cy="546811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46862" cy="546862"/>
            </a:xfrm>
            <a:custGeom>
              <a:avLst/>
              <a:gdLst/>
              <a:ahLst/>
              <a:cxnLst/>
              <a:rect r="r" b="b" t="t" l="l"/>
              <a:pathLst>
                <a:path h="546862" w="546862">
                  <a:moveTo>
                    <a:pt x="0" y="0"/>
                  </a:moveTo>
                  <a:lnTo>
                    <a:pt x="546862" y="0"/>
                  </a:lnTo>
                  <a:lnTo>
                    <a:pt x="546862" y="546862"/>
                  </a:lnTo>
                  <a:lnTo>
                    <a:pt x="0" y="546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9" b="9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798296" y="3518535"/>
            <a:ext cx="336042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Health apps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98296" y="4135755"/>
            <a:ext cx="3360420" cy="155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B2530"/>
                </a:solidFill>
                <a:latin typeface="Calibri (MS)"/>
                <a:ea typeface="Calibri (MS)"/>
                <a:cs typeface="Calibri (MS)"/>
                <a:sym typeface="Calibri (MS)"/>
              </a:rPr>
              <a:t>Telehealth and wellness apps can show personal risk guidance.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6046470"/>
            <a:ext cx="82296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2475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Clinical workflow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22960" y="6789420"/>
            <a:ext cx="3977640" cy="1714500"/>
            <a:chOff x="0" y="0"/>
            <a:chExt cx="5303520" cy="2286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035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035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2066544"/>
                  </a:lnTo>
                  <a:cubicBezTo>
                    <a:pt x="5303520" y="2187702"/>
                    <a:pt x="5205222" y="2286000"/>
                    <a:pt x="5084064" y="2286000"/>
                  </a:cubicBezTo>
                  <a:lnTo>
                    <a:pt x="219456" y="2286000"/>
                  </a:lnTo>
                  <a:cubicBezTo>
                    <a:pt x="98298" y="2286000"/>
                    <a:pt x="0" y="2187702"/>
                    <a:pt x="0" y="206654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5303520" cy="235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Enter patient vitals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033772" y="6789420"/>
            <a:ext cx="3977640" cy="1714500"/>
            <a:chOff x="0" y="0"/>
            <a:chExt cx="5303520" cy="2286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035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035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2066544"/>
                  </a:lnTo>
                  <a:cubicBezTo>
                    <a:pt x="5303520" y="2187702"/>
                    <a:pt x="5205222" y="2286000"/>
                    <a:pt x="5084064" y="2286000"/>
                  </a:cubicBezTo>
                  <a:lnTo>
                    <a:pt x="219456" y="2286000"/>
                  </a:lnTo>
                  <a:cubicBezTo>
                    <a:pt x="98298" y="2286000"/>
                    <a:pt x="0" y="2187702"/>
                    <a:pt x="0" y="206654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5303520" cy="235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scores risk at τ = 0.30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44584" y="6789420"/>
            <a:ext cx="3977640" cy="1714500"/>
            <a:chOff x="0" y="0"/>
            <a:chExt cx="5303520" cy="2286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035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035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2066544"/>
                  </a:lnTo>
                  <a:cubicBezTo>
                    <a:pt x="5303520" y="2187702"/>
                    <a:pt x="5205222" y="2286000"/>
                    <a:pt x="5084064" y="2286000"/>
                  </a:cubicBezTo>
                  <a:lnTo>
                    <a:pt x="219456" y="2286000"/>
                  </a:lnTo>
                  <a:cubicBezTo>
                    <a:pt x="98298" y="2286000"/>
                    <a:pt x="0" y="2187702"/>
                    <a:pt x="0" y="206654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5303520" cy="235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Tier: Low, Moderate or High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455396" y="6789420"/>
            <a:ext cx="3977640" cy="1714500"/>
            <a:chOff x="0" y="0"/>
            <a:chExt cx="5303520" cy="2286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035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3035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2066544"/>
                  </a:lnTo>
                  <a:cubicBezTo>
                    <a:pt x="5303520" y="2187702"/>
                    <a:pt x="5205222" y="2286000"/>
                    <a:pt x="5084064" y="2286000"/>
                  </a:cubicBezTo>
                  <a:lnTo>
                    <a:pt x="219456" y="2286000"/>
                  </a:lnTo>
                  <a:cubicBezTo>
                    <a:pt x="98298" y="2286000"/>
                    <a:pt x="0" y="2187702"/>
                    <a:pt x="0" y="206654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5303520" cy="235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A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 with HbA1c or OGTT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822960" y="8730615"/>
            <a:ext cx="1659636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3A5A6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screening aid that supports clinicians; it never replaces a diagnosis.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824960" y="9636252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A5A6B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2863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9FC5C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Diabetes Risk Prediction  ·  End-to-End ML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3441680" cy="1234440"/>
            <a:chOff x="0" y="0"/>
            <a:chExt cx="179222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222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79222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5349240" cy="4251960"/>
            <a:chOff x="0" y="0"/>
            <a:chExt cx="7132320" cy="5669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23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449824"/>
                  </a:lnTo>
                  <a:cubicBezTo>
                    <a:pt x="7132320" y="5570982"/>
                    <a:pt x="7034022" y="5669280"/>
                    <a:pt x="6912864" y="5669280"/>
                  </a:cubicBezTo>
                  <a:lnTo>
                    <a:pt x="219456" y="5669280"/>
                  </a:lnTo>
                  <a:cubicBezTo>
                    <a:pt x="98298" y="5669280"/>
                    <a:pt x="0" y="5570982"/>
                    <a:pt x="0" y="544982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537460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5FB49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188720" cy="1255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B2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34440" y="3636645"/>
            <a:ext cx="452628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Complete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4440" y="4419600"/>
            <a:ext cx="452628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AF4F4"/>
                </a:solidFill>
                <a:latin typeface="Calibri (MS)"/>
                <a:ea typeface="Calibri (MS)"/>
                <a:cs typeface="Calibri (MS)"/>
                <a:sym typeface="Calibri (MS)"/>
              </a:rPr>
              <a:t>From raw clinical data to a monitored REST API, built and tested end to end with 16 passing tests.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46520" y="2194560"/>
            <a:ext cx="5349240" cy="4251960"/>
            <a:chOff x="0" y="0"/>
            <a:chExt cx="7132320" cy="5669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323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449824"/>
                  </a:lnTo>
                  <a:cubicBezTo>
                    <a:pt x="7132320" y="5570982"/>
                    <a:pt x="7034022" y="5669280"/>
                    <a:pt x="6912864" y="5669280"/>
                  </a:cubicBezTo>
                  <a:lnTo>
                    <a:pt x="219456" y="5669280"/>
                  </a:lnTo>
                  <a:cubicBezTo>
                    <a:pt x="98298" y="5669280"/>
                    <a:pt x="0" y="5570982"/>
                    <a:pt x="0" y="544982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58000" y="2537460"/>
            <a:ext cx="891540" cy="891540"/>
            <a:chOff x="0" y="0"/>
            <a:chExt cx="1188720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5FB49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188720" cy="1255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B2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858000" y="3636645"/>
            <a:ext cx="452628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Built for safety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8000" y="4419600"/>
            <a:ext cx="452628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AF4F4"/>
                </a:solidFill>
                <a:latin typeface="Calibri (MS)"/>
                <a:ea typeface="Calibri (MS)"/>
                <a:cs typeface="Calibri (MS)"/>
                <a:sym typeface="Calibri (MS)"/>
              </a:rPr>
              <a:t>A recall-first threshold of 0.30 cut missed cases from 13 to 4, a 69.2% reduction.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70080" y="2194560"/>
            <a:ext cx="5349240" cy="4251960"/>
            <a:chOff x="0" y="0"/>
            <a:chExt cx="7132320" cy="5669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323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449824"/>
                  </a:lnTo>
                  <a:cubicBezTo>
                    <a:pt x="7132320" y="5570982"/>
                    <a:pt x="7034022" y="5669280"/>
                    <a:pt x="6912864" y="5669280"/>
                  </a:cubicBezTo>
                  <a:lnTo>
                    <a:pt x="219456" y="5669280"/>
                  </a:lnTo>
                  <a:cubicBezTo>
                    <a:pt x="98298" y="5669280"/>
                    <a:pt x="0" y="5570982"/>
                    <a:pt x="0" y="5449824"/>
                  </a:cubicBezTo>
                  <a:close/>
                </a:path>
              </a:pathLst>
            </a:custGeom>
            <a:solidFill>
              <a:srgbClr val="12475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481560" y="2537460"/>
            <a:ext cx="891540" cy="891540"/>
            <a:chOff x="0" y="0"/>
            <a:chExt cx="1188720" cy="1188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5FB49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188720" cy="1255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B25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481560" y="3636645"/>
            <a:ext cx="452628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Honest and explainable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81560" y="4419600"/>
            <a:ext cx="4526280" cy="1958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AF4F4"/>
                </a:solidFill>
                <a:latin typeface="Calibri (MS)"/>
                <a:ea typeface="Calibri (MS)"/>
                <a:cs typeface="Calibri (MS)"/>
                <a:sym typeface="Calibri (MS)"/>
              </a:rPr>
              <a:t>A nested CV ROC-AUC of 0.818 and SHAP explanations show what drives each prediction.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2960" y="6789420"/>
            <a:ext cx="16596360" cy="1577340"/>
            <a:chOff x="0" y="0"/>
            <a:chExt cx="22128480" cy="2103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1883664"/>
                  </a:lnTo>
                  <a:cubicBezTo>
                    <a:pt x="22128480" y="2004822"/>
                    <a:pt x="22030182" y="2103120"/>
                    <a:pt x="21909024" y="2103120"/>
                  </a:cubicBezTo>
                  <a:lnTo>
                    <a:pt x="219456" y="2103120"/>
                  </a:lnTo>
                  <a:cubicBezTo>
                    <a:pt x="98298" y="2103120"/>
                    <a:pt x="0" y="2004822"/>
                    <a:pt x="0" y="1883664"/>
                  </a:cubicBezTo>
                  <a:close/>
                </a:path>
              </a:pathLst>
            </a:custGeom>
            <a:solidFill>
              <a:srgbClr val="157A8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03020" y="6789420"/>
            <a:ext cx="15636240" cy="1577340"/>
            <a:chOff x="0" y="0"/>
            <a:chExt cx="20848320" cy="2103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8483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156" r="0" b="-14315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084832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scope: </a:t>
              </a:r>
              <a:r>
                <a:rPr lang="en-US" sz="25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 on larger, more diverse patient data, connect to hospital records and run clinical trials with physicians.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22960" y="8721090"/>
            <a:ext cx="109728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9FC5CE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  ·  Questions?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824960" y="9636252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9FC5CE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DAHX3MOsvn4</dc:identifier>
  <dcterms:modified xsi:type="dcterms:W3CDTF">2011-08-01T06:04:30Z</dcterms:modified>
  <cp:revision>1</cp:revision>
  <dc:title>diabetes_project_presentation.pptx</dc:title>
</cp:coreProperties>
</file>